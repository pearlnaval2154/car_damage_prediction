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bold.fntdata"/><Relationship Id="rId6" Type="http://schemas.openxmlformats.org/officeDocument/2006/relationships/slide" Target="slides/slide1.xml"/><Relationship Id="rId18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63092b049daabb15_2_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h63092b049daabb15_2_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h63092b049daabb15_2_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h63092b049daabb15_2_1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h63092b049daabb15_2_1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h63092b049daabb15_2_1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63092b049daabb15_2_55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h63092b049daabb15_2_55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h63092b049daabb15_2_55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63092b049daabb15_2_74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h63092b049daabb15_2_74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h63092b049daabb15_2_74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h63092b049daabb15_2_92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h63092b049daabb15_2_92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h63092b049daabb15_2_92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h63092b049daabb15_2_109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h63092b049daabb15_2_109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h63092b049daabb15_2_109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63092b049daabb15_2_134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h63092b049daabb15_2_134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h63092b049daabb15_2_134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63092b049daabb15_2_150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h63092b049daabb15_2_150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h63092b049daabb15_2_150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63092b049daabb15_2_163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h63092b049daabb15_2_163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h63092b049daabb15_2_163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63092b049daabb15_2_188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63092b049daabb15_2_188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h63092b049daabb15_2_188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63092b049daabb15_2_226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h63092b049daabb15_2_226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h63092b049daabb15_2_226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63092b049daabb15_2_237:notes"/>
          <p:cNvSpPr/>
          <p:nvPr>
            <p:ph idx="2" type="sldImg"/>
          </p:nvPr>
        </p:nvSpPr>
        <p:spPr>
          <a:xfrm>
            <a:off x="685727" y="857273"/>
            <a:ext cx="5486546" cy="23146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h63092b049daabb15_2_237:notes"/>
          <p:cNvSpPr txBox="1"/>
          <p:nvPr>
            <p:ph idx="1" type="body"/>
          </p:nvPr>
        </p:nvSpPr>
        <p:spPr>
          <a:xfrm>
            <a:off x="685800" y="3300500"/>
            <a:ext cx="5486400" cy="27004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h63092b049daabb15_2_237:notes"/>
          <p:cNvSpPr txBox="1"/>
          <p:nvPr>
            <p:ph idx="12" type="sldNum"/>
          </p:nvPr>
        </p:nvSpPr>
        <p:spPr>
          <a:xfrm>
            <a:off x="3884613" y="6514083"/>
            <a:ext cx="2971800" cy="3440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notebook_assets/cell50_img0.png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25398" r="25398" t="0"/>
          <a:stretch/>
        </p:blipFill>
        <p:spPr>
          <a:xfrm>
            <a:off x="4903601" y="0"/>
            <a:ext cx="42383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/>
          <p:nvPr/>
        </p:nvSpPr>
        <p:spPr>
          <a:xfrm>
            <a:off x="466356" y="781812"/>
            <a:ext cx="4046328" cy="864108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Car Damage Classification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466348" y="2057401"/>
            <a:ext cx="38064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 structured walkthrough of the notebook: data audit → preprocessing → scratch CNN → transfer learning → final model selection.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493789" y="3031236"/>
            <a:ext cx="13716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88.55%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93789" y="3408426"/>
            <a:ext cx="137163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best test accuracy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2228909" y="3031236"/>
            <a:ext cx="13716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1,512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228909" y="3408426"/>
            <a:ext cx="137163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clean unique images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3874873" y="3031236"/>
            <a:ext cx="5486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874873" y="3408426"/>
            <a:ext cx="5486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93789" y="4512564"/>
            <a:ext cx="40463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Final champion: ResNet50 fine-tuned on car damage classes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PROJECT FLOW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i="0" lang="en" sz="2300" u="none" cap="none" strike="noStrike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The accuracy came from a staged, controlled process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notebook did not jump directly to the final model. Each stage explained what to fix next.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" name="Google Shape;74;p15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15"/>
          <p:cNvSpPr/>
          <p:nvPr/>
        </p:nvSpPr>
        <p:spPr>
          <a:xfrm>
            <a:off x="514364" y="1474470"/>
            <a:ext cx="315476" cy="315468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534938" y="1543050"/>
            <a:ext cx="2743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925855" y="1488186"/>
            <a:ext cx="349767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Clean labels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925855" y="1707642"/>
            <a:ext cx="3497673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Removed duplicate rows and kept 1,512 unique image-label pairs.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14364" y="2228850"/>
            <a:ext cx="315476" cy="315468"/>
          </a:xfrm>
          <a:prstGeom prst="ellipse">
            <a:avLst/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534938" y="2297430"/>
            <a:ext cx="2743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925855" y="2242566"/>
            <a:ext cx="349767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Audit images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925855" y="2462022"/>
            <a:ext cx="3497673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Verified consistent 224×224 RGB JPEG inputs and checked class balance.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514364" y="2983230"/>
            <a:ext cx="315476" cy="31546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534938" y="3051810"/>
            <a:ext cx="2743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925855" y="2996946"/>
            <a:ext cx="349767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Build baseline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925855" y="3216402"/>
            <a:ext cx="3497673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Trained a scratch CNN to establish a from-scratch reference point.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629273" y="1474470"/>
            <a:ext cx="315476" cy="315468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649848" y="1543050"/>
            <a:ext cx="2743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5040764" y="1488186"/>
            <a:ext cx="36348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Switch to transfer learning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5"/>
          <p:cNvSpPr/>
          <p:nvPr/>
        </p:nvSpPr>
        <p:spPr>
          <a:xfrm>
            <a:off x="5040764" y="1707642"/>
            <a:ext cx="3634837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Used ImageNet-pretrained ResNet/EfficientNet features to improve generalization.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629273" y="2228850"/>
            <a:ext cx="315476" cy="315468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4649848" y="2297430"/>
            <a:ext cx="2743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5040764" y="2242566"/>
            <a:ext cx="36348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Fine-tune gradually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5040764" y="2462022"/>
            <a:ext cx="3634837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Started with classifier heads, then unfroze deeper convolution blocks.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4629273" y="2983230"/>
            <a:ext cx="315476" cy="31546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4649848" y="3051810"/>
            <a:ext cx="274327" cy="123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040764" y="2996946"/>
            <a:ext cx="36348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Select champion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5040764" y="3216402"/>
            <a:ext cx="3634837" cy="370332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Compared test accuracy, reports and confusion matrices; ResNet50 became best.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1063025" y="3943350"/>
            <a:ext cx="7029600" cy="698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1063018" y="3943350"/>
            <a:ext cx="54865" cy="521208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213898" y="4066794"/>
            <a:ext cx="6789601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213898" y="4306824"/>
            <a:ext cx="6789601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Every change was tested as an experiment. When a model underperformed, we did not keep tuning it blindly; we moved to the next controlled option.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DATA AUDIT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i="0" lang="en" sz="2300" u="none" cap="none" strike="noStrike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Data quality was clean; class balance was the real risk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dataset was already standardized, so preprocessing focused on augmentation and correct evaluation.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" name="Google Shape;111;p16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6"/>
          <p:cNvSpPr/>
          <p:nvPr/>
        </p:nvSpPr>
        <p:spPr>
          <a:xfrm>
            <a:off x="514364" y="1481328"/>
            <a:ext cx="144021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1512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514364" y="1858518"/>
            <a:ext cx="14402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unique rows after duplicate cleanup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2160328" y="1481328"/>
            <a:ext cx="13030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224×224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2160328" y="1858518"/>
            <a:ext cx="13030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fixed resolution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3737699" y="1481325"/>
            <a:ext cx="1573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RGB JPEG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737710" y="1858518"/>
            <a:ext cx="137163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format / channels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452255" y="1481328"/>
            <a:ext cx="1508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300"/>
              <a:buFont typeface="Arial"/>
              <a:buNone/>
            </a:pPr>
            <a:r>
              <a:rPr b="1" i="0" lang="en" sz="2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36.31%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452255" y="1858518"/>
            <a:ext cx="150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unknown class share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otebook_assets/cell8_img0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72" y="2434590"/>
            <a:ext cx="2815691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/>
          <p:nvPr/>
        </p:nvSpPr>
        <p:spPr>
          <a:xfrm>
            <a:off x="5040764" y="2571750"/>
            <a:ext cx="336051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 resizing logic was needed because every image was already 224×224.</a:t>
            </a:r>
            <a:br>
              <a:rPr b="0" i="0" lang="en" sz="1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Dataset-specific mean/std was used for the scratch CNN.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ImageNet normalization was used for pretrained models.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Stratified splitting preserved class proportions across train, validation and test.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377200" y="180897"/>
            <a:ext cx="3703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LABEL UNDERSTANDING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Before modeling, we checked what each class visually meant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377200" y="902663"/>
            <a:ext cx="8024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This helped decide safe augmentations and made class overlap visible before training.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17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notebook_assets/cell11_img0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64" y="1407731"/>
            <a:ext cx="5726430" cy="32744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6549565" y="1495044"/>
            <a:ext cx="1954582" cy="140589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>
            <a:off x="6549565" y="1495044"/>
            <a:ext cx="54865" cy="1405890"/>
          </a:xfrm>
          <a:prstGeom prst="rect">
            <a:avLst/>
          </a:prstGeom>
          <a:solidFill>
            <a:srgbClr val="00A6A6"/>
          </a:solidFill>
          <a:ln cap="flat" cmpd="sng" w="12700">
            <a:solidFill>
              <a:srgbClr val="00A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6700445" y="1618488"/>
            <a:ext cx="171454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this revealed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6700445" y="1858518"/>
            <a:ext cx="1714546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Damage classes are not equally easy. Lamp and glass classes are visually distinctive, while dent/scratch classes can overlap depending on the crop and car part.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6549565" y="3168396"/>
            <a:ext cx="1954582" cy="115214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549565" y="3168396"/>
            <a:ext cx="54865" cy="115214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6700445" y="3291840"/>
            <a:ext cx="1714546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Augmentation choice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6700445" y="3531870"/>
            <a:ext cx="1714546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 used mild flips, rotations, lighting jitter and small affine shifts. Aggressive crops were avoided because they could remove the damaged area.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BASELINE LEARNING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Scratch CNN V1 showed why transfer learning was needed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from-scratch model learned some patterns but could not build strong visual features from ~1k training images.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" name="Google Shape;148;p18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" name="Google Shape;149;p18"/>
          <p:cNvSpPr/>
          <p:nvPr/>
        </p:nvSpPr>
        <p:spPr>
          <a:xfrm>
            <a:off x="514364" y="1474470"/>
            <a:ext cx="20574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30.40%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514364" y="1851660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Scratch CNN V1 test 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2708982" y="1474470"/>
            <a:ext cx="13716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1058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2708982" y="1851660"/>
            <a:ext cx="137163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training images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4114910" y="1474470"/>
            <a:ext cx="82298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114910" y="1851660"/>
            <a:ext cx="822982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target classes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otebook_assets/cell28_img2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9862" y="2434590"/>
            <a:ext cx="2343815" cy="202311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/>
          <p:nvPr/>
        </p:nvSpPr>
        <p:spPr>
          <a:xfrm>
            <a:off x="4835019" y="2537460"/>
            <a:ext cx="3531964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confusion matrix was scattered instead of strongly diagonal.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Minor classes were especially weak because the model learned limited low-level features.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model had to learn both general car features and damage-specific features from a small dataset.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This made pretrained CNN backbones the next logical move.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Pretrained backbones solved the feature-learning problem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Instead of learning edges, textures and car-part representations from scratch, models reused ImageNet features and fine-tuned them.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9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19"/>
          <p:cNvSpPr/>
          <p:nvPr/>
        </p:nvSpPr>
        <p:spPr>
          <a:xfrm>
            <a:off x="582946" y="1536192"/>
            <a:ext cx="2571819" cy="99441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82946" y="1536192"/>
            <a:ext cx="54865" cy="994410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733826" y="1659636"/>
            <a:ext cx="23317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Stage 1: train classifier head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733826" y="1899666"/>
            <a:ext cx="2331782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Freeze the pretrained backbone and train only the final classification layer for the 8 damage classes.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3291928" y="1536192"/>
            <a:ext cx="2571819" cy="99441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3291928" y="1536192"/>
            <a:ext cx="54865" cy="99441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3442808" y="1659636"/>
            <a:ext cx="23317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Stage 2: fine-tune last block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3442808" y="1899666"/>
            <a:ext cx="2331782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Unfreeze the deepest feature block, use a lower learning rate and adapt higher-level features to car damage.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6000910" y="1536192"/>
            <a:ext cx="2571819" cy="99441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000910" y="1536192"/>
            <a:ext cx="54865" cy="99441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6151790" y="1659636"/>
            <a:ext cx="2331782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Stage 3: fine-tune more carefully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151790" y="1899666"/>
            <a:ext cx="2331782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For ResNet18, layer3 + layer4 improved results. For some larger models, extra tuning did not always help.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720109" y="3154680"/>
            <a:ext cx="15088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172033"/>
                </a:solidFill>
              </a:rPr>
              <a:t>Process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720087" y="3463300"/>
            <a:ext cx="7852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Reusable training/evaluation functions made experiments consistent.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Checkpointing by validation loss protected against bad final epochs.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same test set was kept untouched for fair comparison.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MODEL COMPARISON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ResNet50 won, but ResNet18 was very close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final result came from comparing architectures under the same split and evaluation process.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0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55" y="1440180"/>
            <a:ext cx="4354946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/>
          <p:nvPr/>
        </p:nvSpPr>
        <p:spPr>
          <a:xfrm>
            <a:off x="5315092" y="1549908"/>
            <a:ext cx="1714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Result interpretation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315092" y="1885950"/>
            <a:ext cx="3154764" cy="1248156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Scratch CNN V1 established the difficulty of the task.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EfficientNet-B0 improved a lot but did not beat ResNet.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ResNet18 performed strongly after staged fine-tuning.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ResNet50 produced the best test accuracy: 88.55%.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5315100" y="3600450"/>
            <a:ext cx="3120600" cy="853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315104" y="3600450"/>
            <a:ext cx="54900" cy="8532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465972" y="3723894"/>
            <a:ext cx="2880437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465972" y="3963924"/>
            <a:ext cx="2880437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Keep ResNet50 as the final model, but record ResNet18 as a strong fallback because it is smaller and only ~1.3 points behind.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RESNET18 REVIEW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ResNet18 showed the right fine-tuning pattern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Accuracy improved when we moved from head-only training to deeper block fine-tuning.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" name="Google Shape;204;p21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notebook_assets/cell35_img0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654" y="1399032"/>
            <a:ext cx="3773938" cy="325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5040764" y="1453896"/>
            <a:ext cx="2057455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87.22%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040764" y="1831086"/>
            <a:ext cx="2057455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ResNet18 final test 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040764" y="2194560"/>
            <a:ext cx="3291928" cy="140589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Layer3 + layer4 fine-tuning gave the strongest ResNet18 result.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Unknown, tail_lamp, glass_shatter and bumper_dent became strong classes.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Head_lamp still had weaker recall, showing it needed more data or targeted improvement.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Full unfreezing later reduced performance, so extra complexity was not automatically better.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ARCHITECTURE DECISIONS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Not every stronger architecture improved the result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project improved by keeping experiments and decisions disciplined.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2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2"/>
          <p:cNvSpPr/>
          <p:nvPr/>
        </p:nvSpPr>
        <p:spPr>
          <a:xfrm>
            <a:off x="582946" y="1611630"/>
            <a:ext cx="2503237" cy="9258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2"/>
          <p:cNvSpPr/>
          <p:nvPr/>
        </p:nvSpPr>
        <p:spPr>
          <a:xfrm>
            <a:off x="582946" y="1611630"/>
            <a:ext cx="54865" cy="92583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733826" y="1735074"/>
            <a:ext cx="226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EfficientNet-B0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733826" y="1975104"/>
            <a:ext cx="2263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Reached 82.82%, but dropped below ResNet18. We stopped tuning it instead of forcing a worse branch.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326219" y="1611630"/>
            <a:ext cx="2503237" cy="9258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3326219" y="1611630"/>
            <a:ext cx="54865" cy="92583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3477099" y="1735074"/>
            <a:ext cx="226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ResNet50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477099" y="1975104"/>
            <a:ext cx="2263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Reached 88.55%, becoming the best final model. It improved class-level performance without adding fragile tricks.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069492" y="1611630"/>
            <a:ext cx="2503237" cy="92583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6069492" y="1611630"/>
            <a:ext cx="54865" cy="92583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2"/>
          <p:cNvSpPr/>
          <p:nvPr/>
        </p:nvSpPr>
        <p:spPr>
          <a:xfrm>
            <a:off x="6220372" y="1735074"/>
            <a:ext cx="22632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went wrong earlier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6220372" y="1975104"/>
            <a:ext cx="22632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checkpoint filename from ResNet18 was reused in a ResNet50 block. The cleaned notebook fixes this with model-specific names.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82946" y="3154680"/>
            <a:ext cx="1714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Why ResNet50 won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82946" y="3463290"/>
            <a:ext cx="3806291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Deeper pretrained features helped without overcomplicating the pipeline.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Fine-tuning layer4 was enough to beat ResNet18 and EfficientNet-B0.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Class-level results remained balanced: macro F1 0.87 and weighted F1 0.89.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4835019" y="3154680"/>
            <a:ext cx="1714546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Why we stopped there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4835019" y="3463290"/>
            <a:ext cx="3669128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Extra experiments should now target the remaining error patterns, not repeat similar ResNet tuning.</a:t>
            </a:r>
            <a:b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next real 90%+ attempt should be ConvNeXt, TTA or a ResNet18 + ResNet50 ensemble.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377200" y="180547"/>
            <a:ext cx="3703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FINAL MODEL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ResNet50 final readout: strong overall and class-level performance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77200" y="923572"/>
            <a:ext cx="8024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final confusion matrix is strongly diagonal, with head_lamp still the main recall gap.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23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notebook_assets/cell45_img0.png"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10" y="1371600"/>
            <a:ext cx="3734213" cy="322326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/>
          <p:nvPr/>
        </p:nvSpPr>
        <p:spPr>
          <a:xfrm>
            <a:off x="4835019" y="1426464"/>
            <a:ext cx="137163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88.55%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4835019" y="1803654"/>
            <a:ext cx="137163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test accuracy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6240946" y="1426464"/>
            <a:ext cx="1028727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0.87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6240946" y="1803654"/>
            <a:ext cx="1028727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macro F1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7475419" y="1426464"/>
            <a:ext cx="1165891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6A6"/>
              </a:buClr>
              <a:buSzPts val="2300"/>
              <a:buFont typeface="Arial"/>
              <a:buNone/>
            </a:pPr>
            <a:r>
              <a:rPr b="1" lang="en" sz="2300">
                <a:solidFill>
                  <a:srgbClr val="00A6A6"/>
                </a:solidFill>
                <a:latin typeface="Arial"/>
                <a:ea typeface="Arial"/>
                <a:cs typeface="Arial"/>
                <a:sym typeface="Arial"/>
              </a:rPr>
              <a:t>0.89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7475419" y="1803654"/>
            <a:ext cx="1165891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Arial"/>
              <a:buNone/>
            </a:pPr>
            <a:r>
              <a:rPr b="1" lang="en"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weighted F1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4924175" y="236601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6460408" y="236601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4924175" y="257175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bumper_dent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6460408" y="257175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0.92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4924175" y="277749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bumper_scratch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6460408" y="277749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0.83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924175" y="298323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door_dent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6460408" y="298323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924175" y="318897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door_scratch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6460408" y="318897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4924175" y="339471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glass_shatter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6460408" y="339471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924175" y="360045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head_lamp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6460408" y="360045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4924175" y="380619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tail_lamp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6460408" y="380619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0.91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4924175" y="4011930"/>
            <a:ext cx="1440218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460408" y="4011930"/>
            <a:ext cx="548655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700"/>
              <a:buFont typeface="Arial"/>
              <a:buNone/>
            </a:pPr>
            <a:r>
              <a:rPr lang="en" sz="7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0.91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166800" y="2434604"/>
            <a:ext cx="1371600" cy="1728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7166798" y="2434605"/>
            <a:ext cx="54900" cy="17283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7317681" y="2558034"/>
            <a:ext cx="1131600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Main remaining gap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7317681" y="2880364"/>
            <a:ext cx="1131600" cy="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Head_lamp recall is lower than the rest. The next improvement should focus on head_lamp examples and confusions, not a generic retry of the same architecture.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377200" y="233172"/>
            <a:ext cx="370341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E9"/>
              </a:buClr>
              <a:buSzPts val="700"/>
              <a:buFont typeface="Arial"/>
              <a:buNone/>
            </a:pPr>
            <a:r>
              <a:rPr b="1" lang="en" sz="700">
                <a:solidFill>
                  <a:srgbClr val="0EA5E9"/>
                </a:solidFill>
                <a:latin typeface="Arial"/>
                <a:ea typeface="Arial"/>
                <a:cs typeface="Arial"/>
                <a:sym typeface="Arial"/>
              </a:rPr>
              <a:t>PREDICTION CHECK</a:t>
            </a:r>
            <a:endParaRPr sz="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377200" y="438912"/>
            <a:ext cx="8229819" cy="397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300"/>
              <a:buFont typeface="Play"/>
              <a:buNone/>
            </a:pPr>
            <a:r>
              <a:rPr b="1" lang="en" sz="23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The final model was tested like a deployable classifier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377200" y="850392"/>
            <a:ext cx="8024074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 prediction function was used to show image, actual class and predicted class on unseen test samples.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24"/>
          <p:cNvCxnSpPr/>
          <p:nvPr/>
        </p:nvCxnSpPr>
        <p:spPr>
          <a:xfrm>
            <a:off x="377200" y="1248156"/>
            <a:ext cx="8401274" cy="0"/>
          </a:xfrm>
          <a:prstGeom prst="straightConnector1">
            <a:avLst/>
          </a:prstGeom>
          <a:noFill/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/mnt/data/notebook_assets/cell50_img0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0362" y="1371600"/>
            <a:ext cx="5340515" cy="318897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582946" y="4677156"/>
            <a:ext cx="7544001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This step matters because the notebook moved beyond aggregate metrics: it checked whether a saved model can take a new image and return an interpretable class.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F3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5"/>
          <p:cNvSpPr/>
          <p:nvPr/>
        </p:nvSpPr>
        <p:spPr>
          <a:xfrm>
            <a:off x="493789" y="425196"/>
            <a:ext cx="4937892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FFFFFF"/>
                </a:solidFill>
              </a:rPr>
              <a:t>Future Improvements</a:t>
            </a:r>
            <a:endParaRPr sz="2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493789" y="891540"/>
            <a:ext cx="6515274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current model is strong, but 90%+ will likely need targeted improvement rather than more random tuning.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62371" y="1543050"/>
            <a:ext cx="2468946" cy="9052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62371" y="1543050"/>
            <a:ext cx="54865" cy="90525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5"/>
          <p:cNvSpPr/>
          <p:nvPr/>
        </p:nvSpPr>
        <p:spPr>
          <a:xfrm>
            <a:off x="713251" y="1666494"/>
            <a:ext cx="22289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1. Keep ResNet50 as champion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713251" y="1906524"/>
            <a:ext cx="2228909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Save final_best_resnet50.pt and class_to_idx.json. Use these for inference and future comparison.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3305644" y="1543050"/>
            <a:ext cx="2468946" cy="9052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3305644" y="1543050"/>
            <a:ext cx="54865" cy="90525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3456524" y="1666494"/>
            <a:ext cx="22289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2. Improve weak classes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3456524" y="1906524"/>
            <a:ext cx="2228909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Inspect head_lamp and bumper_scratch mistakes. Add more labelled samples or targeted augmentation for these cases.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6048917" y="1543050"/>
            <a:ext cx="2468946" cy="90525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6048917" y="1543050"/>
            <a:ext cx="54865" cy="905256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6199797" y="1666494"/>
            <a:ext cx="2228909" cy="1508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3. Try</a:t>
            </a:r>
            <a:r>
              <a:rPr b="1" lang="en" sz="1000">
                <a:solidFill>
                  <a:srgbClr val="172033"/>
                </a:solidFill>
              </a:rPr>
              <a:t> new</a:t>
            </a:r>
            <a:r>
              <a:rPr b="1" lang="en" sz="100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experiments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6199797" y="1906524"/>
            <a:ext cx="2228909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lang="en"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Next experiments: ConvNeXt-Tiny, test-time augmentation, and ensemble averaging of ResNet18 + ResNet50 logits.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562371" y="3552444"/>
            <a:ext cx="2194619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benchmark to beat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62371" y="3854196"/>
            <a:ext cx="5898037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275" lIns="275" spcFirstLastPara="1" rIns="275" wrap="square" tIns="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Arial"/>
              <a:buNone/>
            </a:pPr>
            <a:r>
              <a:rPr b="1" lang="en" sz="14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ResNet50: 88.55% test accuracy, macro F1 0.87, weighted F1 0.89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